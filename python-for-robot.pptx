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זמן כולל מוצע: 45 עד 60 דקות. שקפים 1 עד 19 הם ליבת השיעור, שקף 20 מפריד, ושקפים 21 עד 26 הם עיון עצמי. שקף 27 הוא הסיום.
דגשים לפתיחה:
- להתחיל בשאלה לפני השקף הבא: "מי מזיז את הרובוט שלנו?". לתת לילדים 10 שניות.
- התמונה היא הרובוט האמיתי של הקבוצה. אפשר לשאול מה רואים עליו: האב, גלגלים, חיישן צבע בפינה.
- לומר בקצרה מה היעד: בסוף השיעור כל אחד כתב ותרגל תוכנית שמסיעה רובוט.
- לוגואים בשקף: חט"ב הרצוג, FLL Challenge ועונת BIOGLOW.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זמן: 3 דקות.
דגשים:
- שני עמודים: שלט מול תוכנה. לתת לתלמידים לנחש איזה עמוד "טוב יותר" ולמה.
- השאלה בתחתית היא ניסוי חי: לבקש מתנדב לתאר איך יסיע רובוט בדיוק 50 ס"מ, או להראות את הסרטון (בקר Xbox עם Spike Prime, בלשונית הסרטונים באתר).
- המסר: תוכנה מחליטה פעם אחת ומבצעת בלי להתעייף.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זמן: 2 דקות.
דגשים:
- שלוש מילים לזכור: דיוק, חזרתיות, החלטות.
- דוגמה לכל אחת מהמשימות של העונה: נסיעה של 500 מ"מ, אותה משימה בכל סיבוב, עצירה כשהחיישן רואה קיר.
- "החלטות" היא הקדמה לחיישנים בהמשך השיעור.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זמן: 2 דקות.
דגשים:
- לקרוא את הרצף מימין לשמאל: כותבים קוד, מעבירים בבלוטות', הבקר מריץ, המנועים זזים.
- "המחשב עושה בדיוק מה שכתוב, שורה אחרי שורה, מלמעלה למטה" היא המשפט החשוב בשקף.
- אפשר להראות את סרטון "למה משתמשים ב-Pybricks ב-FLL" מלשונית הסרטונים, אם יש זמן.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זמן: 3 דקות. בהדגמה חיה באתר (לשונית מצגת, שקף "פייתון בשלוש דקות") אפשר ללחוץ "הרץ".
דגשים:
- הערה (#): הרובוט מתעלם ממנה. הדפסה: print. משתנה: שם לערך. חשבון עם *.
- לא להתעכב על תחביר. מספיק שיראו שורה אחת מכל סוג.
- "שגיאה היא לא כישלון: היא אומרת לנו באיזו שורה לחפש." לחזור על זה בשקפים הבאים.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זמן: 2 דקות. הצבעה ביד לפני שלוחצים.
התשובה: 7 (מופיעה בקליק הבא).
דגשים:
- השורה x = x + 2 אומרת: קחו את x, הוסיפו 2 ושמרו שוב ב-x. הסימן = אומר "שמור", לא "שווה".
- לבקש הצבעה לכל אפשרות, ורק אז להריץ באתר.
- טעות נפוצה: 52, כי חושבים שמחברים טקסט. להזכיר שאלה מספרים.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זמן: 2 דקות.
דגשים:
- להריץ באתר ולקרוא את ההודעה ביחד: איזו שורה, ומה לא מתאים.
- אי אפשר לחבר טקסט ומספר עם +.
- על הרובוט האמיתי ההודעה הזאת מופיעה רק אם מריצים מתוך VS Code. אם מריצים מההאב ישירות, הרובוט פשוט לא זז ואין הסבר.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זמן: 2 דקות.
דגשים:
- דרך 1: פסיק בין הטקסט למשתנה. הכי פשוט, להמליץ למתחילים.
- דרך 2: f-string, האות f לפני המרכאות והמשתנה בסוגריים מסולסלים.
- אפשר גם str(dist) עם + בין שני טקסטים. לא חובה להסביר.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זמן: 2 דקות.
דגשים:
- straight במילימטרים, turn במעלות. 90 ימינה, מינוס 90 שמאלה.
- "אותן פקודות בדיוק על הרובוט האמיתי": זה הגשר בין הסימולטור למציאות.
- לשאול: איך נעשה פנייה של חצי סיבוב? (turn(180))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זמן: 2 דקות. באתר לוחצים "הרץ", והשורה הצהובה מראה מה הרובוט עושה עכשיו.
דגשים:
- לבקש מהילדים להגיד בקול איזו שורה רצה עכשיו.
- הדגמה של הסדר: כל שורה מסתיימת לפני שהבאה מתחילה.
- בקליק הבא מופיע הציור של המסלול: נסיעה ימינה 400, פנייה ימינה כלפי מטה. שתי השורות הבאות חוזרות על זה.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זמן: 3 דקות. לא להריץ לפני שכולם הצביעו.
התשובה: הרובוט יסיים למטה. הוא נוסע 500 ימינה, פונה ימינה (ולכן מסתכל למטה) ונוסע 300 למטה.
דגשים:
- לתת לילדים לשרטט על דף או באוויר לפני ההצבעה.
- טעות נפוצה: לחשוב ש-turn(90) הוא "למעלה". פנייה ימינה מכוונת את הרובוט כלפי מטה במבט מלמעלה.
- אחרי ההצבעה להריץ באתר ולבדוק.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זמן: 30 שניות. הפסקה קצרה לפני הפעילות.
דגשים:
- לבקש יד מורמת, אצבע או כל סימן. לבחור שני מתנדבים: רובוט ומתכנת.
- להציג את הבעיה בשקף הבא בלי לפתור אותה. הפתרון הלוגי מגיע אחרי הניסוי.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זמן: 6 עד 8 דקות.
דגשים:
- מתנדב אחד הוא הרובוט וסוגר עיניים. השני הוא המתכנת ונותן פקודות בלבד: צעד קדימה עם מספר, פנה ימינה, פנה שמאלה.
- היעד: להגיע לכיסא בלי לעבור את השולחן. שאר הכיתה כותבת את התוכנית על הלוח.
- לא לפתור בקול. אחרי הניסוי לשאול: מה קרה כשחסר מספר צעדים? מה קרה כשהפקודה לא הייתה מדויקת? הרובוט לא רואה, איפה היה עוזר חיישן?
- להחליף תפקידים ולנסות שוב.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זמן: 3 דקות.
דגשים:
- להראות קודם את הגרסה הארוכה (שמונה שורות) ואז את הלולאה.
- נקודתיים בסוף שורת ה-for, וארבעה רווחים לפני כל שורה בתוך הלולאה. זה מקור הטעויות מס' 1.
- לשאול: איך נקבל משולש? (3 חזרות, פנייה של 120).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זמן: 2 דקות.
התשובה: חסרות נקודתיים בסוף שורת ה-for. פייתון כותבת SyntaxError ומסמנת את השורה.
דגשים:
- לתת לילדים לחפש לפני שמגלים. להריץ באתר ולהראות את הודעת השגיאה.
- לחזור על המסר: השגיאה אומרת איפה לחפש.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זמן: 30 שניות. כמו לפני הפעילות הקודמת.
דגשים:
- לבחור שלושה מתנדבים: רובוט עם עיניים עצומות, מתכנת, ו"קיר" עם ידיים מושטות.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זמן: 5 דקות.
דגשים:
- הרובוט (עיניים עצומות) הולך קדימה עד שמישהו נוגע לו בכתף, ואז עוצר מיד.
- המתכנת לא נותן מספר צעדים. הפקודה היחידה: "קדימה עד שנוגעים".
- בכל סבב ה"קיר" עומד במרחק אחר. אחרי כמה סבבים לשאול: איך אומרים לרובוט מתי לעצור? (מובילים לשקף הבא: while not force.pressed()).
- לא לתת את הפתרון לפני הניסוי.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זמן: 4 דקות.
דגשים:
- לקשור לפעילות שהייתה: "קדימה עד שנוגעים" הופך ללולאת while.
- הקיר לא תמיד באותו מקום (להריץ כמה פעמים באתר ולהראות), ולכן אי אפשר לנחש מספר.
- while not force.pressed() נכון כל עוד עוד לא לחצו. כשהחיישן נלחץ, הלולאה נגמרת והרובוט עובר ל-robot.stop().
- הדוגמה השנייה (צבע) היא בונוס: if מחליט לפי הצבע.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זמן: כל הזמן שנשאר, בערך 15 עד 20 דקות.
דגשים:
- הקוד מוביל ישירות למצב תרגול (קישור קבוע: https://avihaibd.github.io/fll-python-lesson/?s=q7x2). אפשר גם להקליד אותו.
- משימות 1 עד 3 ו-9 לכולם. 4 עד 6 למי שמתקדם. 7, 8 ו-10 לאתגר.
- נתקעתם? קודם רמז, אחר כך שאלה לחבר, ואז אלינו.
- לחצו "דיבאג" כדי לראות איזו שורה רצה עכשיו.
- אם נשאר זמן והכיתה מתקדמת, אפשר לעבור לשקפי העיון העצמי.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החלטה: אם נשאר זמן והכיתה מתקדמת, ממשיכים לשקפים 21 עד 26. אחרת קופצים לשקף 27 (באתר יש כפתור "דלגו לשקף האחרון"), ואת השקפים האלה מקבלים התלמידים ללמידה עצמית.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זמן: 3 דקות.
דגשים:
- בסימולטור יש "דיבאג" שורה אחרי שורה. על הרובוט האמיתי אין מצב כזה.
- פתרון: wfb (wait for button). הרובוט עוצר, אנחנו בודקים מה קרה ולאיזה מצב הגענו, ובלחיצה על הכפתור ממשיכים.
- לשים wfb() אחרי כל פקודה שרוצים לבדוק, ולמחוק כשהכול עובד.
- שימו לב: הקוד מניח Button.CENTER ואובייקט hub. להתאים לקוד של הקבוצה אם צריך.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זמן: 5 דקות.
דגשים:
- מסמנים ריבוע על הרצפה בסרט. המתכנת כותב על הלוח תוכנית בלי לולאה: שמונה שורות.
- הרובוט (עיניים עצומות) מבצע.
- אחרי הניסוי לשאול: איך מקצרים? ("חזור 4 פעמים: 3 צעדים, פנה ימינה"). לשנות ל-3 חזרות ולבדוק מה יצא.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זמן: 5 דקות.
דגשים:
- שני מתנדבים: הרובוט הולך חמישה צעדים, והזרוע מרימה יד למשך שלוש שניות.
- סבב 1: אחד אחרי השני. סבב 2: שניהם יחד. מודדים זמן בשעון עצר בכל סבב.
- אחרי הניסוי: איך הקוד יגיד "שניהם יחד"? (multitask). איפה בקוד של הקבוצה זה קורה?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זמן: 4 דקות. נושא מתקדם, מתאים למי שכבר השתלט על לולאות.
דגשים:
- await: חכו שהפעולה תסתיים. multitask: שתי פעולות יחד.
- באתר (משימה 8) אפשר להחליף ל-await drive_task() ואז await arm_task() ולהשוות זמן.
- לקשור לפעילות multitask אנושי.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זמן: 3 דקות.
דגשים:
- התחלה והאטה עדינות מונעות החלקה, והרובוט נוסע ישר יותר.
- מהר מפיל בעוצמה, לאט מפיל בעדינות. בוחרים מהירות לפי המשימה.
- אחרי נסיעה מהירה ממתינים רגע לפני פנייה (wait).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זמן: 2 דקות.
דגשים:
- בסימולטור אין חיכוך, סחיפה או סוללה חלשה. ברובוט האמיתי הגלגלים מחליקים והכיוון זז.
- לכן בקוד של הקבוצה יש גירוסקופ ובקר PID שמתקן את הכיוון. לא להיכנס לפרטים, מספיק שיידעו שזה קיים.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זמן: 3 דקות.
דגשים:
- התקנת VS Code ו-Pybricks וחיבור רובוט אמיתי.
- להריץ את הקוד שכתבו היום על הרובוט. להכיר את הקוד של שנה שעברה (מחלקת Robot ושלט).
- להמשיך לבד: קורסי פייתון בעברית בקמפוס IL (בלשונית הסרטונים והחומרים באתר).
- כרטיס יציאה: כל אחד כותב מילה אחת על מה שלמד, ודבר אחד שלא ברור. לאסוף ולסקור לפני השיעור הבא.
- סרטון לעיון: הגדרת VS Code ל-Pybricks (בלשונית הסרטונים).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66F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fll-python-lesson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4645152"/>
            <a:ext cx="301752" cy="4023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35040" y="468172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5B7B"/>
                </a:solidFill>
              </a:rPr>
              <a:t>The Titans #1735</a:t>
            </a: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3200" b="1" dirty="0">
                <a:solidFill>
                  <a:srgbClr val="B31CB3"/>
                </a:solidFill>
              </a:defRPr>
            </a:lvl1pPr>
          </a:lstStyle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8172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5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NK">
    <p:bg>
      <p:bgPr>
        <a:solidFill>
          <a:srgbClr val="F66F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3B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8172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5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avihaibd.github.io/fll-python-lesson/?s=q7x2" TargetMode="Externa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06240" y="8229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rtl="1" algn="r" indent="0" marL="0">
              <a:buNone/>
            </a:pPr>
            <a:r>
              <a:rPr lang="he-IL" altLang="en-US" sz="5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פייתון לרובוט</a:t>
            </a:r>
            <a:endParaRPr lang="he-IL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4206240" y="18288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he-IL" altLang="en-US" sz="20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הכרות לקבוצת FLL: למה תוכנה, ואיך כותבים אותה</a:t>
            </a:r>
            <a:endParaRPr lang="he-IL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329184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mnt/user-data/outputs/fll-python-lesson/src/robo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914400"/>
            <a:ext cx="310896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06240" y="3108960"/>
            <a:ext cx="44805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/mnt/user-data/outputs/fll-python-lesson/src/logo-herz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200400"/>
            <a:ext cx="932688" cy="621792"/>
          </a:xfrm>
          <a:prstGeom prst="rect">
            <a:avLst/>
          </a:prstGeom>
        </p:spPr>
      </p:pic>
      <p:pic>
        <p:nvPicPr>
          <p:cNvPr id="8" name="Image 2" descr="/mnt/user-data/outputs/fll-python-lesson/src/logo-f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3200400"/>
            <a:ext cx="786384" cy="621792"/>
          </a:xfrm>
          <a:prstGeom prst="rect">
            <a:avLst/>
          </a:prstGeom>
        </p:spPr>
      </p:pic>
      <p:pic>
        <p:nvPicPr>
          <p:cNvPr id="9" name="Image 3" descr="/mnt/user-data/outputs/fll-python-lesson/src/logo-biogl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3200400"/>
            <a:ext cx="877824" cy="621792"/>
          </a:xfrm>
          <a:prstGeom prst="rect">
            <a:avLst/>
          </a:prstGeom>
        </p:spPr>
      </p:pic>
      <p:pic>
        <p:nvPicPr>
          <p:cNvPr id="10" name="Image 4" descr="/mnt/user-data/outputs/fll-python-lesson/src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4206240"/>
            <a:ext cx="457200" cy="612648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5120640" y="4389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Titans #1735</a:t>
            </a:r>
            <a:endParaRPr lang="he-IL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B31CB3"/>
                </a:solidFill>
              </a:rPr>
              <a:t>מי מזיז את הרובוט?</a:t>
            </a:r>
            <a:endParaRPr lang="he-IL" sz="3200" dirty="0"/>
          </a:p>
        </p:txBody>
      </p:sp>
      <p:sp>
        <p:nvSpPr>
          <p:cNvPr id="4" name="Shape 1"/>
          <p:cNvSpPr/>
          <p:nvPr/>
        </p:nvSpPr>
        <p:spPr>
          <a:xfrm>
            <a:off x="4663440" y="1280160"/>
            <a:ext cx="4023360" cy="1920240"/>
          </a:xfrm>
          <a:prstGeom prst="roundRect">
            <a:avLst>
              <a:gd name="adj" fmla="val 5714"/>
            </a:avLst>
          </a:prstGeom>
          <a:solidFill>
            <a:srgbClr val="FBEAFB"/>
          </a:solidFill>
          <a:ln w="12700">
            <a:solidFill>
              <a:srgbClr val="FBEAF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57200" y="1280160"/>
            <a:ext cx="4023360" cy="1920240"/>
          </a:xfrm>
          <a:prstGeom prst="roundRect">
            <a:avLst>
              <a:gd name="adj" fmla="val 5714"/>
            </a:avLst>
          </a:prstGeom>
          <a:solidFill>
            <a:srgbClr val="F2E8FF"/>
          </a:solidFill>
          <a:ln w="12700">
            <a:solidFill>
              <a:srgbClr val="F2E8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484632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rtl="1" algn="r" indent="0" marL="0">
              <a:buNone/>
            </a:pPr>
            <a:r>
              <a:rPr lang="he-IL" altLang="en-US" sz="2800" b="1" dirty="0">
                <a:solidFill>
                  <a:srgbClr val="B31C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בשלט</a:t>
            </a:r>
            <a:endParaRPr lang="he-IL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20116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he-IL" altLang="en-US" sz="18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אנחנו מחליטים בכל רגע. מתעייפים, מפספסים, לא חוזרים על אותו דבר.</a:t>
            </a:r>
            <a:endParaRPr lang="he-IL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rtl="1" algn="r" indent="0" marL="0">
              <a:buNone/>
            </a:pPr>
            <a:r>
              <a:rPr lang="he-IL" altLang="en-US" sz="2800" b="1" dirty="0">
                <a:solidFill>
                  <a:srgbClr val="B31C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בתוכנה</a:t>
            </a:r>
            <a:endParaRPr lang="he-IL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0116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he-IL" altLang="en-US" sz="18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החלטנו פעם אחת. הרובוט עושה את זה 10 פעמים אותו דבר.</a:t>
            </a:r>
            <a:endParaRPr lang="he-IL" sz="1800" dirty="0"/>
          </a:p>
        </p:txBody>
      </p:sp>
      <p:sp>
        <p:nvSpPr>
          <p:cNvPr id="10" name="Shape 7"/>
          <p:cNvSpPr/>
          <p:nvPr/>
        </p:nvSpPr>
        <p:spPr>
          <a:xfrm>
            <a:off x="457200" y="352044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B31CB3"/>
          </a:solidFill>
          <a:ln w="12700">
            <a:solidFill>
              <a:srgbClr val="B31CB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3520440"/>
            <a:ext cx="8229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1" anchor="ctr"/>
          <a:lstStyle/>
          <a:p>
            <a:pPr rtl="1" algn="ctr" indent="0" marL="0">
              <a:buNone/>
            </a:pPr>
            <a:r>
              <a:rPr lang="he-IL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מצליח לנסוע בדיוק 50 ס"מ, עשר פעמים ברצף, ביד?</a:t>
            </a:r>
            <a:endParaRPr lang="he-IL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8172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5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B31CB3"/>
                </a:solidFill>
              </a:rPr>
              <a:t>מה תוכנה נותנת לנו</a:t>
            </a:r>
            <a:endParaRPr lang="he-IL" sz="3200" dirty="0"/>
          </a:p>
        </p:txBody>
      </p:sp>
      <p:sp>
        <p:nvSpPr>
          <p:cNvPr id="4" name="Shape 1"/>
          <p:cNvSpPr/>
          <p:nvPr/>
        </p:nvSpPr>
        <p:spPr>
          <a:xfrm>
            <a:off x="5989320" y="137160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BEAFB"/>
          </a:solidFill>
          <a:ln w="12700">
            <a:solidFill>
              <a:srgbClr val="FBEAF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949440" y="1554480"/>
            <a:ext cx="731520" cy="731520"/>
          </a:xfrm>
          <a:prstGeom prst="ellipse">
            <a:avLst/>
          </a:prstGeom>
          <a:solidFill>
            <a:srgbClr val="B31CB3"/>
          </a:solidFill>
          <a:ln w="12700">
            <a:solidFill>
              <a:srgbClr val="B31CB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7373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12648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ctr" indent="0" marL="0">
              <a:buNone/>
            </a:pPr>
            <a:r>
              <a:rPr lang="he-IL" altLang="en-US" sz="2400" b="1" dirty="0">
                <a:solidFill>
                  <a:srgbClr val="B31C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דיוק</a:t>
            </a:r>
            <a:endParaRPr lang="he-IL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6172200" y="29260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ctr" indent="0" marL="0">
              <a:buNone/>
            </a:pPr>
            <a:r>
              <a:rPr lang="he-IL" altLang="en-US" sz="16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מילימטר הם תמיד 500 מילימטר.</a:t>
            </a:r>
            <a:endParaRPr lang="he-IL" sz="1600" dirty="0"/>
          </a:p>
        </p:txBody>
      </p:sp>
      <p:sp>
        <p:nvSpPr>
          <p:cNvPr id="9" name="Shape 5"/>
          <p:cNvSpPr/>
          <p:nvPr/>
        </p:nvSpPr>
        <p:spPr>
          <a:xfrm>
            <a:off x="3200400" y="137160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BEAFB"/>
          </a:solidFill>
          <a:ln w="12700">
            <a:solidFill>
              <a:srgbClr val="FBEAF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160520" y="1554480"/>
            <a:ext cx="731520" cy="731520"/>
          </a:xfrm>
          <a:prstGeom prst="ellipse">
            <a:avLst/>
          </a:prstGeom>
          <a:solidFill>
            <a:srgbClr val="B31CB3"/>
          </a:solidFill>
          <a:ln w="12700">
            <a:solidFill>
              <a:srgbClr val="B31CB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73736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33756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ctr" indent="0" marL="0">
              <a:buNone/>
            </a:pPr>
            <a:r>
              <a:rPr lang="he-IL" altLang="en-US" sz="2400" b="1" dirty="0">
                <a:solidFill>
                  <a:srgbClr val="B31C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חזרתיות</a:t>
            </a:r>
            <a:endParaRPr lang="he-IL" sz="2400" dirty="0"/>
          </a:p>
        </p:txBody>
      </p:sp>
      <p:sp>
        <p:nvSpPr>
          <p:cNvPr id="13" name="Text 8"/>
          <p:cNvSpPr txBox="1"/>
          <p:nvPr/>
        </p:nvSpPr>
        <p:spPr>
          <a:xfrm>
            <a:off x="3383280" y="29260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ctr" indent="0" marL="0">
              <a:buNone/>
            </a:pPr>
            <a:r>
              <a:rPr lang="he-IL" altLang="en-US" sz="16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אותה משימה, בכל סיבוב, בלי לעייף.</a:t>
            </a:r>
            <a:endParaRPr lang="he-IL" sz="1600" dirty="0"/>
          </a:p>
        </p:txBody>
      </p:sp>
      <p:sp>
        <p:nvSpPr>
          <p:cNvPr id="14" name="Shape 9"/>
          <p:cNvSpPr/>
          <p:nvPr/>
        </p:nvSpPr>
        <p:spPr>
          <a:xfrm>
            <a:off x="411480" y="137160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BEAFB"/>
          </a:solidFill>
          <a:ln w="12700">
            <a:solidFill>
              <a:srgbClr val="FBEAF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1371600" y="1554480"/>
            <a:ext cx="731520" cy="731520"/>
          </a:xfrm>
          <a:prstGeom prst="ellipse">
            <a:avLst/>
          </a:prstGeom>
          <a:solidFill>
            <a:srgbClr val="B31CB3"/>
          </a:solidFill>
          <a:ln w="12700">
            <a:solidFill>
              <a:srgbClr val="B31CB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73736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864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ctr" indent="0" marL="0">
              <a:buNone/>
            </a:pPr>
            <a:r>
              <a:rPr lang="he-IL" altLang="en-US" sz="2400" b="1" dirty="0">
                <a:solidFill>
                  <a:srgbClr val="B31C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החלטות</a:t>
            </a:r>
            <a:endParaRPr lang="he-IL" sz="2400" dirty="0"/>
          </a:p>
        </p:txBody>
      </p:sp>
      <p:sp>
        <p:nvSpPr>
          <p:cNvPr id="18" name="Text 12"/>
          <p:cNvSpPr txBox="1"/>
          <p:nvPr/>
        </p:nvSpPr>
        <p:spPr>
          <a:xfrm>
            <a:off x="594360" y="29260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ctr" indent="0" marL="0">
              <a:buNone/>
            </a:pPr>
            <a:r>
              <a:rPr lang="he-IL" altLang="en-US" sz="16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אם החיישן רואה קיר, עוצרים. אם רואה כחול, מפסיקים.</a:t>
            </a:r>
            <a:endParaRPr lang="he-IL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8172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5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B31CB3"/>
                </a:solidFill>
              </a:rPr>
              <a:t>הדרך מהמקלדת למנוע</a:t>
            </a:r>
            <a:endParaRPr lang="he-IL" sz="3200" dirty="0"/>
          </a:p>
        </p:txBody>
      </p:sp>
      <p:sp>
        <p:nvSpPr>
          <p:cNvPr id="4" name="Shape 1"/>
          <p:cNvSpPr/>
          <p:nvPr/>
        </p:nvSpPr>
        <p:spPr>
          <a:xfrm>
            <a:off x="7406640" y="1554480"/>
            <a:ext cx="1280160" cy="1005840"/>
          </a:xfrm>
          <a:prstGeom prst="roundRect">
            <a:avLst>
              <a:gd name="adj" fmla="val 10909"/>
            </a:avLst>
          </a:prstGeom>
          <a:solidFill>
            <a:srgbClr val="B31CB3"/>
          </a:solidFill>
          <a:ln w="12700">
            <a:solidFill>
              <a:srgbClr val="B31CB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06640" y="1554480"/>
            <a:ext cx="12801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1" anchor="ctr"/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כותבים קוד</a:t>
            </a:r>
            <a:endParaRPr lang="he-IL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995160" y="17830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algn="ctr" indent="0" marL="0" rtl="1">
              <a:buNone/>
            </a:pPr>
            <a:r>
              <a:rPr lang="en-US" sz="2800" b="1" dirty="0">
                <a:solidFill>
                  <a:srgbClr val="B31CB3"/>
                </a:solidFill>
              </a:rPr>
              <a:t>←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715000" y="1554480"/>
            <a:ext cx="1280160" cy="1005840"/>
          </a:xfrm>
          <a:prstGeom prst="roundRect">
            <a:avLst>
              <a:gd name="adj" fmla="val 10909"/>
            </a:avLst>
          </a:prstGeom>
          <a:solidFill>
            <a:srgbClr val="6B5B7B"/>
          </a:solidFill>
          <a:ln w="12700">
            <a:solidFill>
              <a:srgbClr val="6B5B7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15000" y="1554480"/>
            <a:ext cx="12801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1" anchor="ctr"/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/ Pybricks</a:t>
            </a:r>
            <a:endParaRPr lang="he-IL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17830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algn="ctr" indent="0" marL="0" rtl="1">
              <a:buNone/>
            </a:pPr>
            <a:r>
              <a:rPr lang="en-US" sz="2800" b="1" dirty="0">
                <a:solidFill>
                  <a:srgbClr val="B31CB3"/>
                </a:solidFill>
              </a:rPr>
              <a:t>←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023360" y="1554480"/>
            <a:ext cx="1280160" cy="1005840"/>
          </a:xfrm>
          <a:prstGeom prst="roundRect">
            <a:avLst>
              <a:gd name="adj" fmla="val 10909"/>
            </a:avLst>
          </a:prstGeom>
          <a:solidFill>
            <a:srgbClr val="6B5B7B"/>
          </a:solidFill>
          <a:ln w="12700">
            <a:solidFill>
              <a:srgbClr val="6B5B7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023360" y="1554480"/>
            <a:ext cx="12801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1" anchor="ctr"/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בלוטות'</a:t>
            </a:r>
            <a:endParaRPr lang="he-IL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17830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algn="ctr" indent="0" marL="0" rtl="1">
              <a:buNone/>
            </a:pPr>
            <a:r>
              <a:rPr lang="en-US" sz="2800" b="1" dirty="0">
                <a:solidFill>
                  <a:srgbClr val="B31CB3"/>
                </a:solidFill>
              </a:rPr>
              <a:t>←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2331720" y="1554480"/>
            <a:ext cx="1280160" cy="1005840"/>
          </a:xfrm>
          <a:prstGeom prst="roundRect">
            <a:avLst>
              <a:gd name="adj" fmla="val 10909"/>
            </a:avLst>
          </a:prstGeom>
          <a:solidFill>
            <a:srgbClr val="6B5B7B"/>
          </a:solidFill>
          <a:ln w="12700">
            <a:solidFill>
              <a:srgbClr val="6B5B7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331720" y="1554480"/>
            <a:ext cx="12801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1" anchor="ctr"/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בקר Spike Prime</a:t>
            </a:r>
            <a:endParaRPr lang="he-IL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920240" y="17830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algn="ctr" indent="0" marL="0" rtl="1">
              <a:buNone/>
            </a:pPr>
            <a:r>
              <a:rPr lang="en-US" sz="2800" b="1" dirty="0">
                <a:solidFill>
                  <a:srgbClr val="B31CB3"/>
                </a:solidFill>
              </a:rPr>
              <a:t>←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640080" y="1554480"/>
            <a:ext cx="1280160" cy="1005840"/>
          </a:xfrm>
          <a:prstGeom prst="roundRect">
            <a:avLst>
              <a:gd name="adj" fmla="val 10909"/>
            </a:avLst>
          </a:prstGeom>
          <a:solidFill>
            <a:srgbClr val="6B5B7B"/>
          </a:solidFill>
          <a:ln w="12700">
            <a:solidFill>
              <a:srgbClr val="6B5B7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554480"/>
            <a:ext cx="12801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1" anchor="ctr"/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מנועים וחיישנים</a:t>
            </a:r>
            <a:endParaRPr lang="he-IL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329184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F2E8FF"/>
          </a:solidFill>
          <a:ln w="12700">
            <a:solidFill>
              <a:srgbClr val="F2E8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1" anchor="ctr"/>
          <a:lstStyle/>
          <a:p>
            <a:pPr rtl="1" algn="ctr" indent="0" marL="0">
              <a:buNone/>
            </a:pPr>
            <a:r>
              <a:rPr lang="he-IL" altLang="en-US" sz="2000" b="1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המחשב עושה בדיוק מה שכתוב, שורה אחרי שורה, מלמעלה למטה.</a:t>
            </a:r>
            <a:endParaRPr lang="he-IL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8172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5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B31CB3"/>
                </a:solidFill>
              </a:rPr>
              <a:t>פייתון בשלוש דקות</a:t>
            </a:r>
            <a:endParaRPr lang="he-IL" sz="3200" dirty="0"/>
          </a:p>
        </p:txBody>
      </p:sp>
      <p:sp>
        <p:nvSpPr>
          <p:cNvPr id="4" name="code-bg"/>
          <p:cNvSpPr/>
          <p:nvPr/>
        </p:nvSpPr>
        <p:spPr>
          <a:xfrm>
            <a:off x="4480560" y="1371600"/>
            <a:ext cx="4206240" cy="1645920"/>
          </a:xfrm>
          <a:prstGeom prst="roundRect">
            <a:avLst>
              <a:gd name="adj" fmla="val 5556"/>
            </a:avLst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617720" y="146304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comment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 robot!")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 = 200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print(speed * 2)</a:t>
            </a:r>
            <a:endParaRPr lang="en-US" sz="2000" dirty="0"/>
          </a:p>
        </p:txBody>
      </p:sp>
      <p:sp>
        <p:nvSpPr>
          <p:cNvPr id="6" name="ANIM:1:1"/>
          <p:cNvSpPr/>
          <p:nvPr/>
        </p:nvSpPr>
        <p:spPr>
          <a:xfrm>
            <a:off x="4480560" y="3108960"/>
            <a:ext cx="4206240" cy="548640"/>
          </a:xfrm>
          <a:prstGeom prst="roundRect">
            <a:avLst>
              <a:gd name="adj" fmla="val 16667"/>
            </a:avLst>
          </a:prstGeom>
          <a:solidFill>
            <a:srgbClr val="DDF3E8"/>
          </a:solidFill>
          <a:ln w="12700">
            <a:solidFill>
              <a:srgbClr val="DDF3E8"/>
            </a:solidFill>
            <a:prstDash val="solid"/>
          </a:ln>
        </p:spPr>
      </p:sp>
      <p:sp>
        <p:nvSpPr>
          <p:cNvPr id="7" name="ANIM:1:2"/>
          <p:cNvSpPr txBox="1"/>
          <p:nvPr/>
        </p:nvSpPr>
        <p:spPr>
          <a:xfrm>
            <a:off x="4617720" y="3108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5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robot!   400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37160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הערה (בסולמית): הרובוט מתעלם ממנה</a:t>
            </a:r>
            <a:endParaRPr lang="he-IL" sz="1800" dirty="0"/>
          </a:p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הדפסה: הפקודה print</a:t>
            </a:r>
            <a:endParaRPr lang="he-IL" sz="1800" dirty="0"/>
          </a:p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משתנה הוא שם לערך</a:t>
            </a:r>
            <a:endParaRPr lang="he-IL" sz="1800" dirty="0"/>
          </a:p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חשבון: כפל בכוכבית</a:t>
            </a:r>
            <a:endParaRPr lang="he-IL" sz="1800" dirty="0"/>
          </a:p>
        </p:txBody>
      </p:sp>
      <p:sp>
        <p:nvSpPr>
          <p:cNvPr id="9" name="Shape 6"/>
          <p:cNvSpPr/>
          <p:nvPr/>
        </p:nvSpPr>
        <p:spPr>
          <a:xfrm>
            <a:off x="457200" y="374904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FBEAFB"/>
          </a:solidFill>
          <a:ln w="12700">
            <a:solidFill>
              <a:srgbClr val="FBEAF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1" anchor="ctr"/>
          <a:lstStyle/>
          <a:p>
            <a:pPr rtl="1" algn="ctr" indent="0" marL="0">
              <a:buNone/>
            </a:pPr>
            <a:r>
              <a:rPr lang="he-IL" altLang="en-US" sz="1800" b="1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שגיאה היא לא כישלון: היא אומרת לנו באיזו שורה לחפש.</a:t>
            </a:r>
            <a:endParaRPr lang="he-IL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8172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5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B31CB3"/>
                </a:solidFill>
              </a:rPr>
              <a:t>חידון: מה ידפיס?</a:t>
            </a:r>
            <a:endParaRPr lang="he-IL" sz="3200" dirty="0"/>
          </a:p>
        </p:txBody>
      </p:sp>
      <p:sp>
        <p:nvSpPr>
          <p:cNvPr id="4" name="code-bg"/>
          <p:cNvSpPr/>
          <p:nvPr/>
        </p:nvSpPr>
        <p:spPr>
          <a:xfrm>
            <a:off x="4480560" y="137160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617720" y="146304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5</a:t>
            </a:r>
            <a:endParaRPr lang="en-US" sz="2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x + 2</a:t>
            </a:r>
            <a:endParaRPr lang="en-US" sz="2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print(x)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71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he-IL" altLang="en-US" sz="20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הצבעה ביד לפני שלוחצים.</a:t>
            </a:r>
            <a:endParaRPr lang="he-IL" sz="2000" dirty="0"/>
          </a:p>
        </p:txBody>
      </p:sp>
      <p:sp>
        <p:nvSpPr>
          <p:cNvPr id="7" name="Shape 4"/>
          <p:cNvSpPr/>
          <p:nvPr/>
        </p:nvSpPr>
        <p:spPr>
          <a:xfrm>
            <a:off x="731520" y="2194560"/>
            <a:ext cx="1005840" cy="822960"/>
          </a:xfrm>
          <a:prstGeom prst="roundRect">
            <a:avLst>
              <a:gd name="adj" fmla="val 13333"/>
            </a:avLst>
          </a:prstGeom>
          <a:solidFill>
            <a:srgbClr val="B31CB3"/>
          </a:solidFill>
          <a:ln w="12700">
            <a:solidFill>
              <a:srgbClr val="B31CB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194560"/>
            <a:ext cx="10058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1" anchor="ctr"/>
          <a:lstStyle/>
          <a:p>
            <a:pPr rtl="1" algn="ctr" indent="0" marL="0">
              <a:buNone/>
            </a:pPr>
            <a:r>
              <a:rPr lang="he-IL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he-IL" sz="2800" dirty="0"/>
          </a:p>
        </p:txBody>
      </p:sp>
      <p:sp>
        <p:nvSpPr>
          <p:cNvPr id="9" name="Shape 6"/>
          <p:cNvSpPr/>
          <p:nvPr/>
        </p:nvSpPr>
        <p:spPr>
          <a:xfrm>
            <a:off x="1920240" y="2194560"/>
            <a:ext cx="1005840" cy="822960"/>
          </a:xfrm>
          <a:prstGeom prst="roundRect">
            <a:avLst>
              <a:gd name="adj" fmla="val 13333"/>
            </a:avLst>
          </a:prstGeom>
          <a:solidFill>
            <a:srgbClr val="B31CB3"/>
          </a:solidFill>
          <a:ln w="12700">
            <a:solidFill>
              <a:srgbClr val="B31CB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920240" y="2194560"/>
            <a:ext cx="10058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1" anchor="ctr"/>
          <a:lstStyle/>
          <a:p>
            <a:pPr rtl="1" algn="ctr" indent="0" marL="0">
              <a:buNone/>
            </a:pPr>
            <a:r>
              <a:rPr lang="he-IL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he-IL" sz="2800" dirty="0"/>
          </a:p>
        </p:txBody>
      </p:sp>
      <p:sp>
        <p:nvSpPr>
          <p:cNvPr id="11" name="Shape 8"/>
          <p:cNvSpPr/>
          <p:nvPr/>
        </p:nvSpPr>
        <p:spPr>
          <a:xfrm>
            <a:off x="3108960" y="2194560"/>
            <a:ext cx="1005840" cy="822960"/>
          </a:xfrm>
          <a:prstGeom prst="roundRect">
            <a:avLst>
              <a:gd name="adj" fmla="val 13333"/>
            </a:avLst>
          </a:prstGeom>
          <a:solidFill>
            <a:srgbClr val="B31CB3"/>
          </a:solidFill>
          <a:ln w="12700">
            <a:solidFill>
              <a:srgbClr val="B31CB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108960" y="2194560"/>
            <a:ext cx="10058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1" anchor="ctr"/>
          <a:lstStyle/>
          <a:p>
            <a:pPr rtl="1" algn="ctr" indent="0" marL="0">
              <a:buNone/>
            </a:pPr>
            <a:r>
              <a:rPr lang="he-IL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he-IL" sz="2800" dirty="0"/>
          </a:p>
        </p:txBody>
      </p:sp>
      <p:sp>
        <p:nvSpPr>
          <p:cNvPr id="13" name="ANIM:1:3"/>
          <p:cNvSpPr/>
          <p:nvPr/>
        </p:nvSpPr>
        <p:spPr>
          <a:xfrm>
            <a:off x="457200" y="338328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2E9B6A"/>
          </a:solidFill>
          <a:ln w="12700">
            <a:solidFill>
              <a:srgbClr val="2E9B6A"/>
            </a:solidFill>
            <a:prstDash val="solid"/>
          </a:ln>
        </p:spPr>
      </p:sp>
      <p:sp>
        <p:nvSpPr>
          <p:cNvPr id="14" name="ANIM:1:4"/>
          <p:cNvSpPr txBox="1"/>
          <p:nvPr/>
        </p:nvSpPr>
        <p:spPr>
          <a:xfrm>
            <a:off x="457200" y="3383280"/>
            <a:ext cx="8229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1" anchor="ctr"/>
          <a:lstStyle/>
          <a:p>
            <a:pPr rtl="1" algn="ctr" indent="0" marL="0">
              <a:buNone/>
            </a:pPr>
            <a:r>
              <a:rPr lang="he-IL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התשובה: 7. x היה 5, הוספנו 2 ושמרנו שוב ב-x</a:t>
            </a:r>
            <a:endParaRPr lang="he-IL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8172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5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B31CB3"/>
                </a:solidFill>
              </a:rPr>
              <a:t>שגיאה ראשונה: טקסט ועוד מספר</a:t>
            </a:r>
            <a:endParaRPr lang="he-IL" sz="3200" dirty="0"/>
          </a:p>
        </p:txBody>
      </p:sp>
      <p:sp>
        <p:nvSpPr>
          <p:cNvPr id="4" name="code-bg"/>
          <p:cNvSpPr/>
          <p:nvPr/>
        </p:nvSpPr>
        <p:spPr>
          <a:xfrm>
            <a:off x="4480560" y="1371600"/>
            <a:ext cx="4206240" cy="1280160"/>
          </a:xfrm>
          <a:prstGeom prst="roundRect">
            <a:avLst>
              <a:gd name="adj" fmla="val 7143"/>
            </a:avLst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617720" y="14630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 = 300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print("dist: " + dist)</a:t>
            </a:r>
            <a:endParaRPr lang="en-US" sz="2000" dirty="0"/>
          </a:p>
        </p:txBody>
      </p:sp>
      <p:sp>
        <p:nvSpPr>
          <p:cNvPr id="6" name="ANIM:1:5"/>
          <p:cNvSpPr/>
          <p:nvPr/>
        </p:nvSpPr>
        <p:spPr>
          <a:xfrm>
            <a:off x="4480560" y="2788920"/>
            <a:ext cx="4206240" cy="731520"/>
          </a:xfrm>
          <a:prstGeom prst="roundRect">
            <a:avLst>
              <a:gd name="adj" fmla="val 125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7" name="ANIM:1:6"/>
          <p:cNvSpPr txBox="1"/>
          <p:nvPr/>
        </p:nvSpPr>
        <p:spPr>
          <a:xfrm>
            <a:off x="4617720" y="27889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1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TypeError: line 2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37160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הריצו וקראו את ההודעה</a:t>
            </a:r>
            <a:endParaRPr lang="he-IL" sz="1800" dirty="0"/>
          </a:p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היא אומרת באיזו שורה לחפש ומה לא מתאים</a:t>
            </a:r>
            <a:endParaRPr lang="he-IL" sz="1800" dirty="0"/>
          </a:p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 אפשר לחבר טקסט ומספר עם סימן החיבור</a:t>
            </a:r>
            <a:endParaRPr lang="he-IL" sz="1800" dirty="0"/>
          </a:p>
        </p:txBody>
      </p:sp>
      <p:sp>
        <p:nvSpPr>
          <p:cNvPr id="9" name="Shape 6"/>
          <p:cNvSpPr/>
          <p:nvPr/>
        </p:nvSpPr>
        <p:spPr>
          <a:xfrm>
            <a:off x="457200" y="374904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FBEAFB"/>
          </a:solidFill>
          <a:ln w="12700">
            <a:solidFill>
              <a:srgbClr val="FBEAF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1" anchor="ctr"/>
          <a:lstStyle/>
          <a:p>
            <a:pPr rtl="1" algn="ctr" indent="0" marL="0">
              <a:buNone/>
            </a:pPr>
            <a:r>
              <a:rPr lang="he-IL" altLang="en-US" sz="1600" b="1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 הרובוט האמיתי: ההודעה מופיעה רק כשמריצים מתוך VS Code</a:t>
            </a:r>
            <a:endParaRPr lang="he-IL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8172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5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B31CB3"/>
                </a:solidFill>
              </a:rPr>
              <a:t>שתי דרכים נכונות להדפיס</a:t>
            </a:r>
            <a:endParaRPr lang="he-IL" sz="3200" dirty="0"/>
          </a:p>
        </p:txBody>
      </p:sp>
      <p:sp>
        <p:nvSpPr>
          <p:cNvPr id="4" name="code-bg"/>
          <p:cNvSpPr/>
          <p:nvPr/>
        </p:nvSpPr>
        <p:spPr>
          <a:xfrm>
            <a:off x="4480560" y="1371600"/>
            <a:ext cx="4206240" cy="1463040"/>
          </a:xfrm>
          <a:prstGeom prst="roundRect">
            <a:avLst>
              <a:gd name="adj" fmla="val 6250"/>
            </a:avLst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617720" y="146304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 = 300</a:t>
            </a:r>
            <a:endParaRPr lang="en-US" sz="1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print("dist:", dist)</a:t>
            </a:r>
            <a:endParaRPr lang="en-US" sz="1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print(f"dist: {dist} mm")</a:t>
            </a:r>
            <a:endParaRPr lang="en-US" sz="1800" dirty="0"/>
          </a:p>
        </p:txBody>
      </p:sp>
      <p:sp>
        <p:nvSpPr>
          <p:cNvPr id="6" name="ANIM:1:7"/>
          <p:cNvSpPr/>
          <p:nvPr/>
        </p:nvSpPr>
        <p:spPr>
          <a:xfrm>
            <a:off x="4480560" y="2926080"/>
            <a:ext cx="4206240" cy="685800"/>
          </a:xfrm>
          <a:prstGeom prst="roundRect">
            <a:avLst>
              <a:gd name="adj" fmla="val 13333"/>
            </a:avLst>
          </a:prstGeom>
          <a:solidFill>
            <a:srgbClr val="DDF3E8"/>
          </a:solidFill>
          <a:ln w="12700">
            <a:solidFill>
              <a:srgbClr val="DDF3E8"/>
            </a:solidFill>
            <a:prstDash val="solid"/>
          </a:ln>
        </p:spPr>
      </p:sp>
      <p:sp>
        <p:nvSpPr>
          <p:cNvPr id="7" name="ANIM:1:8"/>
          <p:cNvSpPr txBox="1"/>
          <p:nvPr/>
        </p:nvSpPr>
        <p:spPr>
          <a:xfrm>
            <a:off x="4617720" y="29260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45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dist: 300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5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dist: 300 mm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37160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דרך ראשונה: פסיק בין הטקסט למשתנה</a:t>
            </a:r>
            <a:endParaRPr lang="he-IL" sz="1800" dirty="0"/>
          </a:p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דרך שנייה: האות f לפני המרכאות</a:t>
            </a:r>
            <a:endParaRPr lang="he-IL" sz="1800" dirty="0"/>
          </a:p>
        </p:txBody>
      </p:sp>
      <p:sp>
        <p:nvSpPr>
          <p:cNvPr id="9" name="Shape 6"/>
          <p:cNvSpPr/>
          <p:nvPr/>
        </p:nvSpPr>
        <p:spPr>
          <a:xfrm>
            <a:off x="457200" y="379476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FBEAFB"/>
          </a:solidFill>
          <a:ln w="12700">
            <a:solidFill>
              <a:srgbClr val="FBEAF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3794760"/>
            <a:ext cx="82296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1" anchor="ctr"/>
          <a:lstStyle/>
          <a:p>
            <a:pPr rtl="1" algn="ctr" indent="0" marL="0">
              <a:buNone/>
            </a:pPr>
            <a:r>
              <a:rPr lang="he-IL" altLang="en-US" sz="1600" b="1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גם str(dist) עובד, עם + בין שני טקסטים</a:t>
            </a:r>
            <a:endParaRPr lang="he-IL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8172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5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B31CB3"/>
                </a:solidFill>
              </a:rPr>
              <a:t>פקודות נסיעה</a:t>
            </a:r>
            <a:endParaRPr lang="he-IL" sz="3200" dirty="0"/>
          </a:p>
        </p:txBody>
      </p:sp>
      <p:sp>
        <p:nvSpPr>
          <p:cNvPr id="4" name="code-bg"/>
          <p:cNvSpPr/>
          <p:nvPr/>
        </p:nvSpPr>
        <p:spPr>
          <a:xfrm>
            <a:off x="4480560" y="137160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617720" y="146304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robot.straight(500)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robot.turn(90)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robot.turn(-90)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7160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נסיעה קדימה נמדדת במילימטרים</a:t>
            </a:r>
            <a:endParaRPr lang="he-IL" sz="1800" dirty="0"/>
          </a:p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פנייה ימינה נמדדת במעלות</a:t>
            </a:r>
            <a:endParaRPr lang="he-IL" sz="1800" dirty="0"/>
          </a:p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מספר שלילי פירושו פנייה שמאלה</a:t>
            </a:r>
            <a:endParaRPr lang="he-IL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347472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B31CB3"/>
          </a:solidFill>
          <a:ln w="12700">
            <a:solidFill>
              <a:srgbClr val="B31CB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1" anchor="ctr"/>
          <a:lstStyle/>
          <a:p>
            <a:pPr rtl="1" algn="ctr" indent="0" marL="0">
              <a:buNone/>
            </a:pPr>
            <a:r>
              <a:rPr lang="he-IL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המעבר לרובוט האמיתי: אותן פקודות בדיוק</a:t>
            </a:r>
            <a:endParaRPr lang="he-IL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8172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5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B31CB3"/>
                </a:solidFill>
              </a:rPr>
              <a:t>הרובוט מריץ שורה אחרי שורה</a:t>
            </a:r>
            <a:endParaRPr lang="he-IL" sz="3200" dirty="0"/>
          </a:p>
        </p:txBody>
      </p:sp>
      <p:sp>
        <p:nvSpPr>
          <p:cNvPr id="4" name="code-bg"/>
          <p:cNvSpPr/>
          <p:nvPr/>
        </p:nvSpPr>
        <p:spPr>
          <a:xfrm>
            <a:off x="4480560" y="1371600"/>
            <a:ext cx="4206240" cy="2011680"/>
          </a:xfrm>
          <a:prstGeom prst="roundRect">
            <a:avLst>
              <a:gd name="adj" fmla="val 4545"/>
            </a:avLst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617720" y="146304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robot.straight(400)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robot.turn(90)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robot.straight(400)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robot.turn(90)</a:t>
            </a:r>
            <a:endParaRPr lang="en-US" sz="2000" dirty="0"/>
          </a:p>
        </p:txBody>
      </p:sp>
      <p:sp>
        <p:nvSpPr>
          <p:cNvPr id="6" name="ANIM:1:9"/>
          <p:cNvSpPr/>
          <p:nvPr/>
        </p:nvSpPr>
        <p:spPr>
          <a:xfrm>
            <a:off x="457200" y="1371600"/>
            <a:ext cx="3749040" cy="2743200"/>
          </a:xfrm>
          <a:prstGeom prst="roundRect">
            <a:avLst>
              <a:gd name="adj" fmla="val 4000"/>
            </a:avLst>
          </a:prstGeom>
          <a:solidFill>
            <a:srgbClr val="F2E8FF"/>
          </a:solidFill>
          <a:ln w="12700">
            <a:solidFill>
              <a:srgbClr val="F2E8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ANIM:1:10"/>
          <p:cNvSpPr/>
          <p:nvPr/>
        </p:nvSpPr>
        <p:spPr>
          <a:xfrm>
            <a:off x="1097280" y="2194560"/>
            <a:ext cx="2194560" cy="0"/>
          </a:xfrm>
          <a:prstGeom prst="line">
            <a:avLst/>
          </a:prstGeom>
          <a:noFill/>
          <a:ln w="50800">
            <a:solidFill>
              <a:srgbClr val="B31CB3"/>
            </a:solidFill>
            <a:prstDash val="solid"/>
            <a:tailEnd type="triangle"/>
          </a:ln>
        </p:spPr>
      </p:sp>
      <p:sp>
        <p:nvSpPr>
          <p:cNvPr id="8" name="ANIM:1:11"/>
          <p:cNvSpPr/>
          <p:nvPr/>
        </p:nvSpPr>
        <p:spPr>
          <a:xfrm>
            <a:off x="3291840" y="2194560"/>
            <a:ext cx="0" cy="1463040"/>
          </a:xfrm>
          <a:prstGeom prst="line">
            <a:avLst/>
          </a:prstGeom>
          <a:noFill/>
          <a:ln w="50800">
            <a:solidFill>
              <a:srgbClr val="B31CB3"/>
            </a:solidFill>
            <a:prstDash val="solid"/>
            <a:tailEnd type="triangle"/>
          </a:ln>
        </p:spPr>
      </p:sp>
      <p:sp>
        <p:nvSpPr>
          <p:cNvPr id="9" name="ANIM:1:12"/>
          <p:cNvSpPr/>
          <p:nvPr/>
        </p:nvSpPr>
        <p:spPr>
          <a:xfrm>
            <a:off x="1005840" y="2103120"/>
            <a:ext cx="182880" cy="182880"/>
          </a:xfrm>
          <a:prstGeom prst="ellipse">
            <a:avLst/>
          </a:prstGeom>
          <a:solidFill>
            <a:srgbClr val="2A1233"/>
          </a:solidFill>
          <a:ln w="12700">
            <a:solidFill>
              <a:srgbClr val="2A1233"/>
            </a:solidFill>
            <a:prstDash val="solid"/>
          </a:ln>
        </p:spPr>
      </p:sp>
      <p:sp>
        <p:nvSpPr>
          <p:cNvPr id="10" name="ANIM:1:13"/>
          <p:cNvSpPr txBox="1"/>
          <p:nvPr/>
        </p:nvSpPr>
        <p:spPr>
          <a:xfrm>
            <a:off x="1645920" y="1783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ctr" indent="0" marL="0">
              <a:buNone/>
            </a:pPr>
            <a:r>
              <a:rPr lang="he-IL" altLang="en-US" sz="14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מ"מ</a:t>
            </a:r>
            <a:endParaRPr lang="he-IL" sz="1400" dirty="0"/>
          </a:p>
        </p:txBody>
      </p:sp>
      <p:sp>
        <p:nvSpPr>
          <p:cNvPr id="11" name="ANIM:1:14"/>
          <p:cNvSpPr txBox="1"/>
          <p:nvPr/>
        </p:nvSpPr>
        <p:spPr>
          <a:xfrm>
            <a:off x="109728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פנייה ימינה 90°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8172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5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B31CB3"/>
                </a:solidFill>
              </a:rPr>
              <a:t>נחשו לפני שמריצים</a:t>
            </a:r>
            <a:endParaRPr lang="he-IL" sz="3200" dirty="0"/>
          </a:p>
        </p:txBody>
      </p:sp>
      <p:sp>
        <p:nvSpPr>
          <p:cNvPr id="4" name="code-bg"/>
          <p:cNvSpPr/>
          <p:nvPr/>
        </p:nvSpPr>
        <p:spPr>
          <a:xfrm>
            <a:off x="4480560" y="1371600"/>
            <a:ext cx="4206240" cy="1645920"/>
          </a:xfrm>
          <a:prstGeom prst="roundRect">
            <a:avLst>
              <a:gd name="adj" fmla="val 5556"/>
            </a:avLst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617720" y="146304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robot.straight(500)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robot.turn(90)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robot.straight(300)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7160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he-IL" altLang="en-US" sz="18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הרובוט מתחיל משמאל ומסתכל ימינה. איפה הוא יסיים: למעלה, למטה או ימינה? הרימו יד, ואז לחצו "הרץ" באתר.</a:t>
            </a:r>
            <a:endParaRPr lang="he-IL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3017520"/>
            <a:ext cx="1143000" cy="731520"/>
          </a:xfrm>
          <a:prstGeom prst="roundRect">
            <a:avLst>
              <a:gd name="adj" fmla="val 15000"/>
            </a:avLst>
          </a:prstGeom>
          <a:solidFill>
            <a:srgbClr val="B31CB3"/>
          </a:solidFill>
          <a:ln w="12700">
            <a:solidFill>
              <a:srgbClr val="B31CB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3017520"/>
            <a:ext cx="1143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1" anchor="ctr"/>
          <a:lstStyle/>
          <a:p>
            <a:pPr rtl="1" algn="ctr" indent="0" marL="0">
              <a:buNone/>
            </a:pPr>
            <a:r>
              <a:rPr lang="he-IL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ימינה</a:t>
            </a:r>
            <a:endParaRPr lang="he-IL" sz="2000" dirty="0"/>
          </a:p>
        </p:txBody>
      </p:sp>
      <p:sp>
        <p:nvSpPr>
          <p:cNvPr id="9" name="Shape 6"/>
          <p:cNvSpPr/>
          <p:nvPr/>
        </p:nvSpPr>
        <p:spPr>
          <a:xfrm>
            <a:off x="1737360" y="3017520"/>
            <a:ext cx="1143000" cy="731520"/>
          </a:xfrm>
          <a:prstGeom prst="roundRect">
            <a:avLst>
              <a:gd name="adj" fmla="val 15000"/>
            </a:avLst>
          </a:prstGeom>
          <a:solidFill>
            <a:srgbClr val="B31CB3"/>
          </a:solidFill>
          <a:ln w="12700">
            <a:solidFill>
              <a:srgbClr val="B31CB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737360" y="3017520"/>
            <a:ext cx="1143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1" anchor="ctr"/>
          <a:lstStyle/>
          <a:p>
            <a:pPr rtl="1" algn="ctr" indent="0" marL="0">
              <a:buNone/>
            </a:pPr>
            <a:r>
              <a:rPr lang="he-IL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למטה</a:t>
            </a:r>
            <a:endParaRPr lang="he-IL" sz="2000" dirty="0"/>
          </a:p>
        </p:txBody>
      </p:sp>
      <p:sp>
        <p:nvSpPr>
          <p:cNvPr id="11" name="Shape 8"/>
          <p:cNvSpPr/>
          <p:nvPr/>
        </p:nvSpPr>
        <p:spPr>
          <a:xfrm>
            <a:off x="3017520" y="3017520"/>
            <a:ext cx="1143000" cy="731520"/>
          </a:xfrm>
          <a:prstGeom prst="roundRect">
            <a:avLst>
              <a:gd name="adj" fmla="val 15000"/>
            </a:avLst>
          </a:prstGeom>
          <a:solidFill>
            <a:srgbClr val="B31CB3"/>
          </a:solidFill>
          <a:ln w="12700">
            <a:solidFill>
              <a:srgbClr val="B31CB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017520" y="3017520"/>
            <a:ext cx="1143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1" anchor="ctr"/>
          <a:lstStyle/>
          <a:p>
            <a:pPr rtl="1" algn="ctr" indent="0" marL="0">
              <a:buNone/>
            </a:pPr>
            <a:r>
              <a:rPr lang="he-IL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למעלה</a:t>
            </a:r>
            <a:endParaRPr lang="he-IL" sz="2000" dirty="0"/>
          </a:p>
        </p:txBody>
      </p:sp>
      <p:sp>
        <p:nvSpPr>
          <p:cNvPr id="13" name="ANIM:1:15"/>
          <p:cNvSpPr/>
          <p:nvPr/>
        </p:nvSpPr>
        <p:spPr>
          <a:xfrm>
            <a:off x="457200" y="388620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2E9B6A"/>
          </a:solidFill>
          <a:ln w="12700">
            <a:solidFill>
              <a:srgbClr val="2E9B6A"/>
            </a:solidFill>
            <a:prstDash val="solid"/>
          </a:ln>
        </p:spPr>
      </p:sp>
      <p:sp>
        <p:nvSpPr>
          <p:cNvPr id="14" name="ANIM:1:16"/>
          <p:cNvSpPr txBox="1"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1" anchor="ctr"/>
          <a:lstStyle/>
          <a:p>
            <a:pPr rtl="1" algn="ctr" indent="0" marL="0">
              <a:buNone/>
            </a:pPr>
            <a:r>
              <a:rPr lang="he-IL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התשובה: למטה (הנסיעה השנייה אחרי פנייה ימינה)</a:t>
            </a:r>
            <a:endParaRPr lang="he-IL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8172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5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0" y="502920"/>
            <a:ext cx="2377440" cy="2377440"/>
          </a:xfrm>
          <a:prstGeom prst="ellipse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383280" y="5029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rtl="1" algn="ctr" indent="0" marL="0">
              <a:buNone/>
            </a:pPr>
            <a:r>
              <a:rPr lang="he-IL" altLang="en-US" sz="9600" dirty="0">
                <a:solidFill>
                  <a:srgbClr val="B31CB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✋</a:t>
            </a:r>
            <a:endParaRPr lang="he-IL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1089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rtl="1" algn="ctr" indent="0" marL="0">
              <a:buNone/>
            </a:pPr>
            <a:r>
              <a:rPr lang="he-IL" altLang="en-US" sz="6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מתנדב.ת?</a:t>
            </a:r>
            <a:endParaRPr lang="he-IL" sz="6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B31CB3"/>
                </a:solidFill>
              </a:rPr>
              <a:t>הרובוט האנושי: עיניים עצומות</a:t>
            </a:r>
            <a:endParaRPr lang="he-IL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2743200" cy="2926080"/>
          </a:xfrm>
          <a:prstGeom prst="roundRect">
            <a:avLst>
              <a:gd name="adj" fmla="val 4000"/>
            </a:avLst>
          </a:prstGeom>
          <a:solidFill>
            <a:srgbClr val="F2E8FF"/>
          </a:solidFill>
          <a:ln w="12700">
            <a:solidFill>
              <a:srgbClr val="F2E8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325880" y="1737360"/>
            <a:ext cx="1005840" cy="1005840"/>
          </a:xfrm>
          <a:prstGeom prst="ellipse">
            <a:avLst/>
          </a:prstGeom>
          <a:solidFill>
            <a:srgbClr val="B31CB3"/>
          </a:solidFill>
          <a:ln w="12700">
            <a:solidFill>
              <a:srgbClr val="B31CB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965960"/>
            <a:ext cx="548640" cy="5486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30175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ctr" indent="0" marL="0">
              <a:buNone/>
            </a:pPr>
            <a:r>
              <a:rPr lang="he-IL" altLang="en-US" sz="1800" b="1" dirty="0">
                <a:solidFill>
                  <a:srgbClr val="B31C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רובוט עם עיניים עצומות</a:t>
            </a:r>
            <a:endParaRPr lang="he-IL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3474720" y="1280160"/>
            <a:ext cx="5212080" cy="292608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מתנדב.ת אחד.ת הוא הרובוט וסוגר.ת עיניים. מתנדב.ת שני.ה הוא המתכנת.ת ונותן.ת פקודות.</a:t>
            </a:r>
            <a:endParaRPr lang="he-IL" sz="1800" dirty="0"/>
          </a:p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פקודות מותרות: "צעד קדימה" עם מספר, "פנה ימינה", "פנה שמאלה". אין "קצת", ואין "לך לכיסא".</a:t>
            </a:r>
            <a:endParaRPr lang="he-IL" sz="1800" dirty="0"/>
          </a:p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היעד: הכיסא, בלי לעבור את השולחן. שאר הכיתה כותבת את התוכנית על הלוח.</a:t>
            </a:r>
            <a:endParaRPr lang="he-IL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8172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5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B31CB3"/>
                </a:solidFill>
              </a:rPr>
              <a:t>לולאות: לא כותבים אותו דבר ארבע פעמים</a:t>
            </a:r>
            <a:endParaRPr lang="he-IL" sz="3200" dirty="0"/>
          </a:p>
        </p:txBody>
      </p:sp>
      <p:sp>
        <p:nvSpPr>
          <p:cNvPr id="4" name="code-bg"/>
          <p:cNvSpPr/>
          <p:nvPr/>
        </p:nvSpPr>
        <p:spPr>
          <a:xfrm>
            <a:off x="4480560" y="137160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617720" y="146304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range(4):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robot.straight(400)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robot.turn(90)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7160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לולאת for חוזרת 4 פעמים</a:t>
            </a:r>
            <a:endParaRPr lang="he-IL" sz="1800" dirty="0"/>
          </a:p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נקודתיים בסוף השורה</a:t>
            </a:r>
            <a:endParaRPr lang="he-IL" sz="1800" dirty="0"/>
          </a:p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ארבעה רווחים לפני כל שורה בתוך הלולאה</a:t>
            </a:r>
            <a:endParaRPr lang="he-IL" sz="1800" dirty="0"/>
          </a:p>
        </p:txBody>
      </p:sp>
      <p:sp>
        <p:nvSpPr>
          <p:cNvPr id="7" name="ANIM:1:17"/>
          <p:cNvSpPr/>
          <p:nvPr/>
        </p:nvSpPr>
        <p:spPr>
          <a:xfrm>
            <a:off x="457200" y="356616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B31CB3"/>
          </a:solidFill>
          <a:ln w="12700">
            <a:solidFill>
              <a:srgbClr val="B31CB3"/>
            </a:solidFill>
            <a:prstDash val="solid"/>
          </a:ln>
        </p:spPr>
      </p:sp>
      <p:sp>
        <p:nvSpPr>
          <p:cNvPr id="8" name="ANIM:1:18"/>
          <p:cNvSpPr txBox="1"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1" anchor="ctr"/>
          <a:lstStyle/>
          <a:p>
            <a:pPr rtl="1" algn="ctr" indent="0" marL="0">
              <a:buNone/>
            </a:pPr>
            <a:r>
              <a:rPr lang="he-IL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חזרות של נסיעה ופנייה = ריבוע</a:t>
            </a:r>
            <a:endParaRPr lang="he-IL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8172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5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B31CB3"/>
                </a:solidFill>
              </a:rPr>
              <a:t>מצאו את הבאג</a:t>
            </a:r>
            <a:endParaRPr lang="he-IL" sz="3200" dirty="0"/>
          </a:p>
        </p:txBody>
      </p:sp>
      <p:sp>
        <p:nvSpPr>
          <p:cNvPr id="4" name="code-bg"/>
          <p:cNvSpPr/>
          <p:nvPr/>
        </p:nvSpPr>
        <p:spPr>
          <a:xfrm>
            <a:off x="4480560" y="137160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617720" y="146304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range(4)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robot.straight(400)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robot.turn(90)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554480"/>
            <a:ext cx="1280160" cy="12801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he-IL" altLang="en-US" sz="2400" b="1" dirty="0">
                <a:solidFill>
                  <a:srgbClr val="B31C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הרובוט לא זז ויש שגיאה. מה חסר?</a:t>
            </a:r>
            <a:endParaRPr lang="he-IL" sz="2400" dirty="0"/>
          </a:p>
        </p:txBody>
      </p:sp>
      <p:sp>
        <p:nvSpPr>
          <p:cNvPr id="8" name="ANIM:1:19"/>
          <p:cNvSpPr/>
          <p:nvPr/>
        </p:nvSpPr>
        <p:spPr>
          <a:xfrm>
            <a:off x="457200" y="384048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2E9B6A"/>
          </a:solidFill>
          <a:ln w="12700">
            <a:solidFill>
              <a:srgbClr val="2E9B6A"/>
            </a:solidFill>
            <a:prstDash val="solid"/>
          </a:ln>
        </p:spPr>
      </p:sp>
      <p:sp>
        <p:nvSpPr>
          <p:cNvPr id="9" name="ANIM:1:20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1" anchor="ctr"/>
          <a:lstStyle/>
          <a:p>
            <a:pPr rtl="1" algn="ctr" indent="0" marL="0">
              <a:buNone/>
            </a:pPr>
            <a:r>
              <a:rPr lang="he-IL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חסרות נקודתיים בסוף שורת ה-for</a:t>
            </a:r>
            <a:endParaRPr lang="he-IL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8172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5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0" y="502920"/>
            <a:ext cx="2377440" cy="2377440"/>
          </a:xfrm>
          <a:prstGeom prst="ellipse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383280" y="5029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rtl="1" algn="ctr" indent="0" marL="0">
              <a:buNone/>
            </a:pPr>
            <a:r>
              <a:rPr lang="he-IL" altLang="en-US" sz="9600" dirty="0">
                <a:solidFill>
                  <a:srgbClr val="B31CB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✋</a:t>
            </a:r>
            <a:endParaRPr lang="he-IL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1089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rtl="1" algn="ctr" indent="0" marL="0">
              <a:buNone/>
            </a:pPr>
            <a:r>
              <a:rPr lang="he-IL" altLang="en-US" sz="6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מתנדב.ת?</a:t>
            </a:r>
            <a:endParaRPr lang="he-IL" sz="6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B31CB3"/>
                </a:solidFill>
              </a:rPr>
              <a:t>חיישן אנושי: ללכת עד שנוגעים</a:t>
            </a:r>
            <a:endParaRPr lang="he-IL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2743200" cy="2926080"/>
          </a:xfrm>
          <a:prstGeom prst="roundRect">
            <a:avLst>
              <a:gd name="adj" fmla="val 4000"/>
            </a:avLst>
          </a:prstGeom>
          <a:solidFill>
            <a:srgbClr val="F2E8FF"/>
          </a:solidFill>
          <a:ln w="12700">
            <a:solidFill>
              <a:srgbClr val="F2E8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325880" y="1737360"/>
            <a:ext cx="1005840" cy="1005840"/>
          </a:xfrm>
          <a:prstGeom prst="ellipse">
            <a:avLst/>
          </a:prstGeom>
          <a:solidFill>
            <a:srgbClr val="B31CB3"/>
          </a:solidFill>
          <a:ln w="12700">
            <a:solidFill>
              <a:srgbClr val="B31CB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965960"/>
            <a:ext cx="548640" cy="5486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30175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ctr" indent="0" marL="0">
              <a:buNone/>
            </a:pPr>
            <a:r>
              <a:rPr lang="he-IL" altLang="en-US" sz="1800" b="1" dirty="0">
                <a:solidFill>
                  <a:srgbClr val="B31C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הולכים עד שנוגעים</a:t>
            </a:r>
            <a:endParaRPr lang="he-IL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3474720" y="128016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הרובוט (עיניים עצומות) הולך קדימה עד שמישהו נוגע לו בכתף, ואז עוצר מיד.</a:t>
            </a:r>
            <a:endParaRPr lang="he-IL" sz="1800" dirty="0"/>
          </a:p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המתכנת.ת לא נותן.ת מספר צעדים. הפקודה היחידה: "קדימה עד שנוגעים".</a:t>
            </a:r>
            <a:endParaRPr lang="he-IL" sz="1800" dirty="0"/>
          </a:p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בכל סבב ה"קיר" (תלמיד עם ידיים מושטות) עומד במרחק אחר.</a:t>
            </a:r>
            <a:endParaRPr lang="he-IL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3474720" y="35661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he-IL" altLang="en-US" sz="2400" b="1" dirty="0">
                <a:solidFill>
                  <a:srgbClr val="B31C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אומרים לרובוט מתי לעצור?</a:t>
            </a:r>
            <a:endParaRPr lang="he-IL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8172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5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B31CB3"/>
                </a:solidFill>
              </a:rPr>
              <a:t>חיישנים: הרובוט מחליט</a:t>
            </a:r>
            <a:endParaRPr lang="he-IL" sz="3200" dirty="0"/>
          </a:p>
        </p:txBody>
      </p:sp>
      <p:sp>
        <p:nvSpPr>
          <p:cNvPr id="4" name="code-bg"/>
          <p:cNvSpPr/>
          <p:nvPr/>
        </p:nvSpPr>
        <p:spPr>
          <a:xfrm>
            <a:off x="4480560" y="1280160"/>
            <a:ext cx="4206240" cy="1554480"/>
          </a:xfrm>
          <a:prstGeom prst="roundRect">
            <a:avLst>
              <a:gd name="adj" fmla="val 5882"/>
            </a:avLst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617720" y="137160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not force.pressed():</a:t>
            </a:r>
            <a:endParaRPr lang="en-US" sz="1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robot.drive(150, 0)</a:t>
            </a:r>
            <a:endParaRPr lang="en-US" sz="1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robot.stop()</a:t>
            </a:r>
            <a:endParaRPr lang="en-US" sz="1800" dirty="0"/>
          </a:p>
        </p:txBody>
      </p:sp>
      <p:sp>
        <p:nvSpPr>
          <p:cNvPr id="6" name="code-bg"/>
          <p:cNvSpPr/>
          <p:nvPr/>
        </p:nvSpPr>
        <p:spPr>
          <a:xfrm>
            <a:off x="4480560" y="297180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617720" y="30632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color.color() == Color.BLUE:</a:t>
            </a:r>
            <a:endParaRPr lang="en-US" sz="1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print("found blue!")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28016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הלולאה while חוזרת כל עוד התנאי נכון</a:t>
            </a:r>
            <a:endParaRPr lang="he-IL" sz="1800" dirty="0"/>
          </a:p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הלולאה נגמרת כשהחיישן נלחץ</a:t>
            </a:r>
            <a:endParaRPr lang="he-IL" sz="1800" dirty="0"/>
          </a:p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הקיר לא תמיד באותו מקום, לכן אי אפשר לנחש מספר</a:t>
            </a:r>
            <a:endParaRPr lang="he-IL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8172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5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B31CB3"/>
                </a:solidFill>
              </a:rPr>
              <a:t>עכשיו אתם</a:t>
            </a:r>
            <a:endParaRPr lang="he-IL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3566160" y="137160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20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סורקים את הקוד ונפתח הסימולטור והתרגול.</a:t>
            </a:r>
            <a:endParaRPr lang="he-IL" sz="2000" dirty="0"/>
          </a:p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20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משימות 1 עד 3 ו-9 לכולם. 4 עד 6 למי שמתקדם. 7, 8 ו-10 לאתגר.</a:t>
            </a:r>
            <a:endParaRPr lang="he-IL" sz="2000" dirty="0"/>
          </a:p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20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נתקעתם? קודם רמז, אחר כך שאלה לחבר, ואז אלינו.</a:t>
            </a:r>
            <a:endParaRPr lang="he-IL" sz="2000" dirty="0"/>
          </a:p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20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לחצו "דיבאג" כדי לראות איזו שורה רצה עכשיו.</a:t>
            </a:r>
            <a:endParaRPr lang="he-IL" sz="20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0C8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0" descr="QR לתרגו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2286000" cy="2286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algn="ctr" indent="0" marL="0" rtl="1">
              <a:buNone/>
            </a:pPr>
            <a:r>
              <a:rPr lang="en-US" sz="1000" u="sng" dirty="0">
                <a:solidFill>
                  <a:srgbClr val="B31CB3"/>
                </a:solidFill>
                <a:hlinkClick r:id="rId2" invalidUrl="" action="" tgtFrame="" tooltip="מצב תרגול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avihaibd.github.io/fll-python-lesson/?s=q7x2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8172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5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73152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1920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rtl="1" algn="ctr" indent="0" marL="0">
              <a:buNone/>
            </a:pPr>
            <a:r>
              <a:rPr lang="he-IL" alt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עיון עצמי</a:t>
            </a:r>
            <a:endParaRPr lang="he-IL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1371600" y="30175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ctr" indent="0" marL="0">
              <a:buNone/>
            </a:pPr>
            <a:r>
              <a:rPr lang="he-IL" altLang="en-US" sz="2000" dirty="0">
                <a:solidFill>
                  <a:srgbClr val="F2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ממשיכים אם יש כוח וזמן. אחרת, מדלגים לסוף והתלמידים לומדים לבד.</a:t>
            </a:r>
            <a:endParaRPr lang="he-IL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B31CB3"/>
                </a:solidFill>
              </a:rPr>
              <a:t>דיבאג על רובוט אמיתי</a:t>
            </a:r>
            <a:endParaRPr lang="he-IL" sz="3200" dirty="0"/>
          </a:p>
        </p:txBody>
      </p:sp>
      <p:sp>
        <p:nvSpPr>
          <p:cNvPr id="3" name="self-study-tag"/>
          <p:cNvSpPr txBox="1"/>
          <p:nvPr/>
        </p:nvSpPr>
        <p:spPr>
          <a:xfrm>
            <a:off x="5212080" y="73152"/>
            <a:ext cx="3474720" cy="256032"/>
          </a:xfrm>
          <a:prstGeom prst="rect">
            <a:avLst/>
          </a:prstGeom>
          <a:solidFill>
            <a:srgbClr val="B31CB3"/>
          </a:solidFill>
          <a:ln/>
        </p:spPr>
        <p:txBody>
          <a:bodyPr wrap="square" lIns="0" tIns="0" rIns="0" bIns="0" rtlCol="1" anchor="ctr"/>
          <a:lstStyle/>
          <a:p>
            <a:pPr rtl="1" algn="ctr" indent="0" marL="0"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עיון עצמי: ממשיכים אם יש כוח וזמן</a:t>
            </a:r>
            <a:endParaRPr lang="he-IL" sz="1100" dirty="0"/>
          </a:p>
        </p:txBody>
      </p:sp>
      <p:sp>
        <p:nvSpPr>
          <p:cNvPr id="5" name="code-bg"/>
          <p:cNvSpPr/>
          <p:nvPr/>
        </p:nvSpPr>
        <p:spPr>
          <a:xfrm>
            <a:off x="3931920" y="1188720"/>
            <a:ext cx="4754880" cy="3200400"/>
          </a:xfrm>
          <a:prstGeom prst="roundRect">
            <a:avLst>
              <a:gd name="adj" fmla="val 2857"/>
            </a:avLst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069080" y="128016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wfb():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Button.CENTER not in hub.buttons.pressed():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wait(10)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hub.buttons.pressed():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wait(10)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robot.straight(400)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wfb()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robot.turn(90)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wfb()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 הרובוט אין "שורה אחרי שורה"</a:t>
            </a:r>
            <a:endParaRPr lang="he-IL" sz="1600" dirty="0"/>
          </a:p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נקודת עצירה בשם wfb שמחכה ללחיצה על הכפתור</a:t>
            </a:r>
            <a:endParaRPr lang="he-IL" sz="1600" dirty="0"/>
          </a:p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בודקים את הרובוט על המשטח, לוחצים וממשיכים</a:t>
            </a:r>
            <a:endParaRPr lang="he-IL" sz="1600" dirty="0"/>
          </a:p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כשהכול עובד מוחקים את העצירות</a:t>
            </a:r>
            <a:endParaRPr lang="he-IL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8172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5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B31CB3"/>
                </a:solidFill>
              </a:rPr>
              <a:t>לולאה אנושית: ריבוע על הרצפה</a:t>
            </a:r>
            <a:endParaRPr lang="he-IL" sz="3200" dirty="0"/>
          </a:p>
        </p:txBody>
      </p:sp>
      <p:sp>
        <p:nvSpPr>
          <p:cNvPr id="3" name="self-study-tag"/>
          <p:cNvSpPr txBox="1"/>
          <p:nvPr/>
        </p:nvSpPr>
        <p:spPr>
          <a:xfrm>
            <a:off x="5212080" y="73152"/>
            <a:ext cx="3474720" cy="256032"/>
          </a:xfrm>
          <a:prstGeom prst="rect">
            <a:avLst/>
          </a:prstGeom>
          <a:solidFill>
            <a:srgbClr val="B31CB3"/>
          </a:solidFill>
          <a:ln/>
        </p:spPr>
        <p:txBody>
          <a:bodyPr wrap="square" lIns="0" tIns="0" rIns="0" bIns="0" rtlCol="1" anchor="ctr"/>
          <a:lstStyle/>
          <a:p>
            <a:pPr rtl="1" algn="ctr" indent="0" marL="0"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עיון עצמי: ממשיכים אם יש כוח וזמן</a:t>
            </a:r>
            <a:endParaRPr lang="he-IL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2743200" cy="2926080"/>
          </a:xfrm>
          <a:prstGeom prst="roundRect">
            <a:avLst>
              <a:gd name="adj" fmla="val 4000"/>
            </a:avLst>
          </a:prstGeom>
          <a:solidFill>
            <a:srgbClr val="F2E8FF"/>
          </a:solidFill>
          <a:ln w="12700">
            <a:solidFill>
              <a:srgbClr val="F2E8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828800"/>
            <a:ext cx="1280160" cy="12801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474720" y="128016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מסמנים ריבוע על הרצפה בסרט. המתכנת.ת כותב.ת על הלוח תוכנית בלי לולאה: שמונה שורות.</a:t>
            </a:r>
            <a:endParaRPr lang="he-IL" sz="1800" dirty="0"/>
          </a:p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הרובוט (עיניים עצומות) מבצע.</a:t>
            </a:r>
            <a:endParaRPr lang="he-IL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3474720" y="34747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he-IL" altLang="en-US" sz="2400" b="1" dirty="0">
                <a:solidFill>
                  <a:srgbClr val="B31C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מקצרים את התוכנית?</a:t>
            </a:r>
            <a:endParaRPr lang="he-IL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8172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5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B31CB3"/>
                </a:solidFill>
              </a:rPr>
              <a:t>multitask אנושי: שני דברים יחד</a:t>
            </a:r>
            <a:endParaRPr lang="he-IL" sz="3200" dirty="0"/>
          </a:p>
        </p:txBody>
      </p:sp>
      <p:sp>
        <p:nvSpPr>
          <p:cNvPr id="3" name="self-study-tag"/>
          <p:cNvSpPr txBox="1"/>
          <p:nvPr/>
        </p:nvSpPr>
        <p:spPr>
          <a:xfrm>
            <a:off x="5212080" y="73152"/>
            <a:ext cx="3474720" cy="256032"/>
          </a:xfrm>
          <a:prstGeom prst="rect">
            <a:avLst/>
          </a:prstGeom>
          <a:solidFill>
            <a:srgbClr val="B31CB3"/>
          </a:solidFill>
          <a:ln/>
        </p:spPr>
        <p:txBody>
          <a:bodyPr wrap="square" lIns="0" tIns="0" rIns="0" bIns="0" rtlCol="1" anchor="ctr"/>
          <a:lstStyle/>
          <a:p>
            <a:pPr rtl="1" algn="ctr" indent="0" marL="0"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עיון עצמי: ממשיכים אם יש כוח וזמן</a:t>
            </a:r>
            <a:endParaRPr lang="he-IL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2743200" cy="2926080"/>
          </a:xfrm>
          <a:prstGeom prst="roundRect">
            <a:avLst>
              <a:gd name="adj" fmla="val 4000"/>
            </a:avLst>
          </a:prstGeom>
          <a:solidFill>
            <a:srgbClr val="F2E8FF"/>
          </a:solidFill>
          <a:ln w="12700">
            <a:solidFill>
              <a:srgbClr val="F2E8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828800"/>
            <a:ext cx="1280160" cy="12801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474720" y="128016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מתנדבים: הרובוט הולך חמישה צעדים, והזרוע מרימה יד למשך שלוש שניות.</a:t>
            </a:r>
            <a:endParaRPr lang="he-IL" sz="1800" dirty="0"/>
          </a:p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סבב 1: אחד אחרי השני. סבב 2: שניהם יחד. מודדים זמן בשעון עצר בכל סבב.</a:t>
            </a:r>
            <a:endParaRPr lang="he-IL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3474720" y="34747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he-IL" altLang="en-US" sz="2400" b="1" dirty="0">
                <a:solidFill>
                  <a:srgbClr val="B31C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הקוד יגיד "שניהם יחד"?</a:t>
            </a:r>
            <a:endParaRPr lang="he-IL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8172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5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B31CB3"/>
                </a:solidFill>
              </a:rPr>
              <a:t>לעשות שני דברים יחד</a:t>
            </a:r>
            <a:endParaRPr lang="he-IL" sz="3200" dirty="0"/>
          </a:p>
        </p:txBody>
      </p:sp>
      <p:sp>
        <p:nvSpPr>
          <p:cNvPr id="3" name="self-study-tag"/>
          <p:cNvSpPr txBox="1"/>
          <p:nvPr/>
        </p:nvSpPr>
        <p:spPr>
          <a:xfrm>
            <a:off x="5212080" y="73152"/>
            <a:ext cx="3474720" cy="256032"/>
          </a:xfrm>
          <a:prstGeom prst="rect">
            <a:avLst/>
          </a:prstGeom>
          <a:solidFill>
            <a:srgbClr val="B31CB3"/>
          </a:solidFill>
          <a:ln/>
        </p:spPr>
        <p:txBody>
          <a:bodyPr wrap="square" lIns="0" tIns="0" rIns="0" bIns="0" rtlCol="1" anchor="ctr"/>
          <a:lstStyle/>
          <a:p>
            <a:pPr rtl="1" algn="ctr" indent="0" marL="0"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עיון עצמי: ממשיכים אם יש כוח וזמן</a:t>
            </a:r>
            <a:endParaRPr lang="he-IL" sz="1100" dirty="0"/>
          </a:p>
        </p:txBody>
      </p:sp>
      <p:sp>
        <p:nvSpPr>
          <p:cNvPr id="5" name="code-bg"/>
          <p:cNvSpPr/>
          <p:nvPr/>
        </p:nvSpPr>
        <p:spPr>
          <a:xfrm>
            <a:off x="3291840" y="118872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429000" y="1280160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drive_task():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robot.straight(600)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arm_task():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arm.run_angle(60, 90)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main():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multitask(drive_task(), arm_task())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run_task(main())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2651760" cy="292608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חכו שהפעולה תסתיים (await)</a:t>
            </a:r>
            <a:endParaRPr lang="he-IL" sz="1600" dirty="0"/>
          </a:p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שתי פעולות יחד (multitask)</a:t>
            </a:r>
            <a:endParaRPr lang="he-IL" sz="1600" dirty="0"/>
          </a:p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נסו להריץ את שתי הפעולות בזו אחר זו ולהשוות זמן, במשימה 8</a:t>
            </a:r>
            <a:endParaRPr lang="he-IL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8172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5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B31CB3"/>
                </a:solidFill>
              </a:rPr>
              <a:t>דיוק: מהר או לאט?</a:t>
            </a:r>
            <a:endParaRPr lang="he-IL" sz="3200" dirty="0"/>
          </a:p>
        </p:txBody>
      </p:sp>
      <p:sp>
        <p:nvSpPr>
          <p:cNvPr id="3" name="self-study-tag"/>
          <p:cNvSpPr txBox="1"/>
          <p:nvPr/>
        </p:nvSpPr>
        <p:spPr>
          <a:xfrm>
            <a:off x="5212080" y="73152"/>
            <a:ext cx="3474720" cy="256032"/>
          </a:xfrm>
          <a:prstGeom prst="rect">
            <a:avLst/>
          </a:prstGeom>
          <a:solidFill>
            <a:srgbClr val="B31CB3"/>
          </a:solidFill>
          <a:ln/>
        </p:spPr>
        <p:txBody>
          <a:bodyPr wrap="square" lIns="0" tIns="0" rIns="0" bIns="0" rtlCol="1" anchor="ctr"/>
          <a:lstStyle/>
          <a:p>
            <a:pPr rtl="1" algn="ctr" indent="0" marL="0"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עיון עצמי: ממשיכים אם יש כוח וזמן</a:t>
            </a:r>
            <a:endParaRPr lang="he-IL" sz="1100" dirty="0"/>
          </a:p>
        </p:txBody>
      </p:sp>
      <p:sp>
        <p:nvSpPr>
          <p:cNvPr id="5" name="code-bg"/>
          <p:cNvSpPr/>
          <p:nvPr/>
        </p:nvSpPr>
        <p:spPr>
          <a:xfrm>
            <a:off x="3566160" y="1280160"/>
            <a:ext cx="5120640" cy="2926080"/>
          </a:xfrm>
          <a:prstGeom prst="roundRect">
            <a:avLst>
              <a:gd name="adj" fmla="val 3125"/>
            </a:avLst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703320" y="13716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robot.settings(straight_speed=500)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robot.straight(400)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robot.settings(straight_speed=150)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robot.straight(100)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wait(150)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2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robot.turn(90)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התחלה והאטה עדינות מונעות החלקה</a:t>
            </a:r>
            <a:endParaRPr lang="he-IL" sz="1600" dirty="0"/>
          </a:p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מהר מפיל בעוצמה, לאט מפיל בעדינות</a:t>
            </a:r>
            <a:endParaRPr lang="he-IL" sz="1600" dirty="0"/>
          </a:p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אחרי נסיעה מהירה ממתינים רגע לפני פנייה</a:t>
            </a:r>
            <a:endParaRPr lang="he-IL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8172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5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B31CB3"/>
                </a:solidFill>
              </a:rPr>
              <a:t>סימולציה מול המציאות</a:t>
            </a:r>
            <a:endParaRPr lang="he-IL" sz="3200" dirty="0"/>
          </a:p>
        </p:txBody>
      </p:sp>
      <p:sp>
        <p:nvSpPr>
          <p:cNvPr id="3" name="self-study-tag"/>
          <p:cNvSpPr txBox="1"/>
          <p:nvPr/>
        </p:nvSpPr>
        <p:spPr>
          <a:xfrm>
            <a:off x="5212080" y="73152"/>
            <a:ext cx="3474720" cy="256032"/>
          </a:xfrm>
          <a:prstGeom prst="rect">
            <a:avLst/>
          </a:prstGeom>
          <a:solidFill>
            <a:srgbClr val="B31CB3"/>
          </a:solidFill>
          <a:ln/>
        </p:spPr>
        <p:txBody>
          <a:bodyPr wrap="square" lIns="0" tIns="0" rIns="0" bIns="0" rtlCol="1" anchor="ctr"/>
          <a:lstStyle/>
          <a:p>
            <a:pPr rtl="1" algn="ctr" indent="0" marL="0"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עיון עצמי: ממשיכים אם יש כוח וזמן</a:t>
            </a:r>
            <a:endParaRPr lang="he-IL" sz="1100" dirty="0"/>
          </a:p>
        </p:txBody>
      </p:sp>
      <p:sp>
        <p:nvSpPr>
          <p:cNvPr id="5" name="Shape 2"/>
          <p:cNvSpPr/>
          <p:nvPr/>
        </p:nvSpPr>
        <p:spPr>
          <a:xfrm>
            <a:off x="5989320" y="137160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FBEAFB"/>
          </a:solidFill>
          <a:ln w="12700">
            <a:solidFill>
              <a:srgbClr val="FBEAF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0" y="1600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ctr" indent="0" marL="0">
              <a:buNone/>
            </a:pPr>
            <a:r>
              <a:rPr lang="he-IL" altLang="en-US" sz="2200" b="1" dirty="0">
                <a:solidFill>
                  <a:srgbClr val="B31C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בסימולטור</a:t>
            </a:r>
            <a:endParaRPr lang="he-IL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172200" y="22860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ctr" indent="0" marL="0">
              <a:buNone/>
            </a:pPr>
            <a:r>
              <a:rPr lang="he-IL" altLang="en-US" sz="18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אין חיכוך, סחיפה או סוללה חלשה.</a:t>
            </a:r>
            <a:endParaRPr lang="he-IL" sz="1800" dirty="0"/>
          </a:p>
        </p:txBody>
      </p:sp>
      <p:sp>
        <p:nvSpPr>
          <p:cNvPr id="8" name="Shape 5"/>
          <p:cNvSpPr/>
          <p:nvPr/>
        </p:nvSpPr>
        <p:spPr>
          <a:xfrm>
            <a:off x="3200400" y="137160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FBEAFB"/>
          </a:solidFill>
          <a:ln w="12700">
            <a:solidFill>
              <a:srgbClr val="FBEAF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337560" y="1600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ctr" indent="0" marL="0">
              <a:buNone/>
            </a:pPr>
            <a:r>
              <a:rPr lang="he-IL" altLang="en-US" sz="2200" b="1" dirty="0">
                <a:solidFill>
                  <a:srgbClr val="B31C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ברובוט האמיתי</a:t>
            </a:r>
            <a:endParaRPr lang="he-IL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3383280" y="22860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ctr" indent="0" marL="0">
              <a:buNone/>
            </a:pPr>
            <a:r>
              <a:rPr lang="he-IL" altLang="en-US" sz="18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הגלגלים מחליקים והכיוון זז.</a:t>
            </a:r>
            <a:endParaRPr lang="he-IL" sz="1800" dirty="0"/>
          </a:p>
        </p:txBody>
      </p:sp>
      <p:sp>
        <p:nvSpPr>
          <p:cNvPr id="11" name="Shape 8"/>
          <p:cNvSpPr/>
          <p:nvPr/>
        </p:nvSpPr>
        <p:spPr>
          <a:xfrm>
            <a:off x="411480" y="137160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FBEAFB"/>
          </a:solidFill>
          <a:ln w="12700">
            <a:solidFill>
              <a:srgbClr val="FBEAF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48640" y="1600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ctr" indent="0" marL="0">
              <a:buNone/>
            </a:pPr>
            <a:r>
              <a:rPr lang="he-IL" altLang="en-US" sz="2200" b="1" dirty="0">
                <a:solidFill>
                  <a:srgbClr val="B31C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בקוד של הקבוצה</a:t>
            </a:r>
            <a:endParaRPr lang="he-IL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22860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ctr" indent="0" marL="0">
              <a:buNone/>
            </a:pPr>
            <a:r>
              <a:rPr lang="he-IL" altLang="en-US" sz="18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גירוסקופ ובקר PID שמתקן את הכיוון.</a:t>
            </a:r>
            <a:endParaRPr lang="he-IL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8172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5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B31CB3"/>
                </a:solidFill>
              </a:rPr>
              <a:t>הצעדים הבאים</a:t>
            </a:r>
            <a:endParaRPr lang="he-IL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20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להתקין את תוכנות העבודה ולחבר רובוט אמיתי.</a:t>
            </a:r>
            <a:endParaRPr lang="he-IL" sz="2000" dirty="0"/>
          </a:p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20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להריץ על הרובוט את הקוד שכתבתם היום.</a:t>
            </a:r>
            <a:endParaRPr lang="he-IL" sz="2000" dirty="0"/>
          </a:p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20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להכיר את הקוד של שנה שעברה: מחלקת הרובוט והשלט.</a:t>
            </a:r>
            <a:endParaRPr lang="he-IL" sz="2000" dirty="0"/>
          </a:p>
          <a:p>
            <a:pPr algn="r" marL="228600" indent="-228600" rtl="1">
              <a:spcAft>
                <a:spcPts val="1000"/>
              </a:spcAft>
              <a:buSzPct val="100000"/>
              <a:buChar char="•"/>
            </a:pPr>
            <a:r>
              <a:rPr lang="he-IL" altLang="en-US" sz="2000" dirty="0">
                <a:solidFill>
                  <a:srgbClr val="2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להמשיך לבד: קורסי פייתון בעברית בקמפוס IL</a:t>
            </a:r>
            <a:endParaRPr lang="he-IL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356616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B31CB3"/>
          </a:solidFill>
          <a:ln w="12700">
            <a:solidFill>
              <a:srgbClr val="B31CB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1" anchor="ctr"/>
          <a:lstStyle/>
          <a:p>
            <a:pPr rtl="1" algn="ctr" indent="0" marL="0">
              <a:buNone/>
            </a:pPr>
            <a:r>
              <a:rPr lang="he-IL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כרטיס יציאה: מילה אחת על מה שלמדתי, ודבר אחד שלא ברור.</a:t>
            </a:r>
            <a:endParaRPr lang="he-IL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8172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5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ans 1735">
  <a:themeElements>
    <a:clrScheme name="Titans 1735">
      <a:dk1>
        <a:srgbClr val="2A1233"/>
      </a:dk1>
      <a:lt1>
        <a:srgbClr val="FFFFFF"/>
      </a:lt1>
      <a:dk2>
        <a:srgbClr val="3B1A4A"/>
      </a:dk2>
      <a:lt2>
        <a:srgbClr val="FBEAFB"/>
      </a:lt2>
      <a:accent1>
        <a:srgbClr val="F66FF6"/>
      </a:accent1>
      <a:accent2>
        <a:srgbClr val="B31CB3"/>
      </a:accent2>
      <a:accent3>
        <a:srgbClr val="1F7AB8"/>
      </a:accent3>
      <a:accent4>
        <a:srgbClr val="FFC857"/>
      </a:accent4>
      <a:accent5>
        <a:srgbClr val="2E9B6A"/>
      </a:accent5>
      <a:accent6>
        <a:srgbClr val="6B5B7B"/>
      </a:accent6>
      <a:hlink>
        <a:srgbClr val="B31CB3"/>
      </a:hlink>
      <a:folHlink>
        <a:srgbClr val="6B5B7B"/>
      </a:folHlink>
    </a:clrScheme>
    <a:fontScheme name="Titans 1735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פייתון לרובוט</dc:title>
  <dc:subject>PptxGenJS Presentation</dc:subject>
  <dc:creator>The Titans #1735</dc:creator>
  <cp:lastModifiedBy>The Titans #1735</cp:lastModifiedBy>
  <cp:revision>1</cp:revision>
  <dcterms:created xsi:type="dcterms:W3CDTF">2026-10-23T08:00:24Z</dcterms:created>
  <dcterms:modified xsi:type="dcterms:W3CDTF">2026-10-23T08:00:24Z</dcterms:modified>
</cp:coreProperties>
</file>